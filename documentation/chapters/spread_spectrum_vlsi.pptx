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5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35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_rels/presentation.xml.rels" ContentType="application/vnd.openxmlformats-package.relationships+xml"/>
  <Override PartName="/ppt/media/image13.jpeg" ContentType="image/jpeg"/>
  <Override PartName="/ppt/media/image4.png" ContentType="image/png"/>
  <Override PartName="/ppt/media/image11.jpeg" ContentType="image/jpeg"/>
  <Override PartName="/ppt/media/image28.png" ContentType="image/png"/>
  <Override PartName="/ppt/media/image8.png" ContentType="image/png"/>
  <Override PartName="/ppt/media/image17.png" ContentType="image/png"/>
  <Override PartName="/ppt/media/image12.jpeg" ContentType="image/jpeg"/>
  <Override PartName="/ppt/media/image9.jpeg" ContentType="image/jpeg"/>
  <Override PartName="/ppt/media/image7.jpeg" ContentType="image/jpeg"/>
  <Override PartName="/ppt/media/image10.jpeg" ContentType="image/jpeg"/>
  <Override PartName="/ppt/media/image6.png" ContentType="image/png"/>
  <Override PartName="/ppt/media/image15.png" ContentType="image/png"/>
  <Override PartName="/ppt/media/image5.jpeg" ContentType="image/jpeg"/>
  <Override PartName="/ppt/media/image3.png" ContentType="image/png"/>
  <Override PartName="/ppt/media/image2.png" ContentType="image/png"/>
  <Override PartName="/ppt/media/image22.svg" ContentType="image/svg"/>
  <Override PartName="/ppt/media/image29.png" ContentType="image/png"/>
  <Override PartName="/ppt/media/image26.png" ContentType="image/png"/>
  <Override PartName="/ppt/media/image25.png" ContentType="image/png"/>
  <Override PartName="/ppt/media/image1.png" ContentType="image/png"/>
  <Override PartName="/ppt/media/image27.jpeg" ContentType="image/jpeg"/>
  <Override PartName="/ppt/media/image24.png" ContentType="image/png"/>
  <Override PartName="/ppt/media/image21.png" ContentType="image/png"/>
  <Override PartName="/ppt/media/image19.png" ContentType="image/png"/>
  <Override PartName="/ppt/media/image20.svg" ContentType="image/svg"/>
  <Override PartName="/ppt/media/image18.svg" ContentType="image/svg"/>
  <Override PartName="/ppt/media/image16.png" ContentType="image/png"/>
  <Override PartName="/ppt/media/image23.png" ContentType="image/png"/>
  <Override PartName="/ppt/media/image14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3" r:id="rId14"/>
    <p:sldMasterId id="2147483675" r:id="rId15"/>
    <p:sldMasterId id="2147483677" r:id="rId16"/>
    <p:sldMasterId id="2147483678" r:id="rId17"/>
    <p:sldMasterId id="2147483679" r:id="rId18"/>
    <p:sldMasterId id="2147483680" r:id="rId19"/>
    <p:sldMasterId id="2147483681" r:id="rId20"/>
    <p:sldMasterId id="2147483682" r:id="rId21"/>
    <p:sldMasterId id="2147483683" r:id="rId22"/>
    <p:sldMasterId id="2147483684" r:id="rId23"/>
    <p:sldMasterId id="2147483685" r:id="rId24"/>
    <p:sldMasterId id="2147483686" r:id="rId25"/>
    <p:sldMasterId id="2147483687" r:id="rId26"/>
    <p:sldMasterId id="2147483688" r:id="rId27"/>
    <p:sldMasterId id="2147483689" r:id="rId28"/>
    <p:sldMasterId id="2147483690" r:id="rId29"/>
    <p:sldMasterId id="2147483691" r:id="rId30"/>
    <p:sldMasterId id="2147483692" r:id="rId31"/>
    <p:sldMasterId id="2147483693" r:id="rId32"/>
    <p:sldMasterId id="2147483694" r:id="rId33"/>
    <p:sldMasterId id="2147483695" r:id="rId34"/>
    <p:sldMasterId id="2147483697" r:id="rId35"/>
    <p:sldMasterId id="2147483699" r:id="rId36"/>
    <p:sldMasterId id="2147483700" r:id="rId37"/>
    <p:sldMasterId id="2147483701" r:id="rId38"/>
    <p:sldMasterId id="2147483702" r:id="rId39"/>
    <p:sldMasterId id="2147483703" r:id="rId40"/>
    <p:sldMasterId id="2147483704" r:id="rId41"/>
    <p:sldMasterId id="2147483705" r:id="rId42"/>
    <p:sldMasterId id="2147483706" r:id="rId43"/>
    <p:sldMasterId id="2147483707" r:id="rId44"/>
    <p:sldMasterId id="2147483709" r:id="rId45"/>
  </p:sldMasterIdLst>
  <p:notesMasterIdLst>
    <p:notesMasterId r:id="rId46"/>
  </p:notesMasterIdLst>
  <p:sldIdLst>
    <p:sldId id="256" r:id="rId47"/>
    <p:sldId id="257" r:id="rId48"/>
    <p:sldId id="258" r:id="rId49"/>
    <p:sldId id="259" r:id="rId50"/>
    <p:sldId id="260" r:id="rId51"/>
    <p:sldId id="261" r:id="rId52"/>
    <p:sldId id="262" r:id="rId53"/>
    <p:sldId id="263" r:id="rId54"/>
    <p:sldId id="264" r:id="rId5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1.xml"/><Relationship Id="rId48" Type="http://schemas.openxmlformats.org/officeDocument/2006/relationships/slide" Target="slides/slide2.xml"/><Relationship Id="rId49" Type="http://schemas.openxmlformats.org/officeDocument/2006/relationships/slide" Target="slides/slide3.xml"/><Relationship Id="rId50" Type="http://schemas.openxmlformats.org/officeDocument/2006/relationships/slide" Target="slides/slide4.xml"/><Relationship Id="rId51" Type="http://schemas.openxmlformats.org/officeDocument/2006/relationships/slide" Target="slides/slide5.xml"/><Relationship Id="rId52" Type="http://schemas.openxmlformats.org/officeDocument/2006/relationships/slide" Target="slides/slide6.xml"/><Relationship Id="rId53" Type="http://schemas.openxmlformats.org/officeDocument/2006/relationships/slide" Target="slides/slide7.xml"/><Relationship Id="rId54" Type="http://schemas.openxmlformats.org/officeDocument/2006/relationships/slide" Target="slides/slide8.xml"/><Relationship Id="rId55" Type="http://schemas.openxmlformats.org/officeDocument/2006/relationships/slide" Target="slides/slide9.xml"/><Relationship Id="rId5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44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dt" idx="58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ftr" idx="59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 type="sldNum" idx="60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AB7C620-55C8-440B-AF67-5CA7EE1A0C3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CFE718-FF8E-40A4-827C-8DF29C973220}" type="slidenum">
              <a: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Shannon Hartley Theorem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Channel Capacity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There exists a code so that: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Increased Bandwidth with FIXED TX power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-&gt; arbitrarily close to theoretical maximum bits/second</a:t>
            </a: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	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-&gt; arbitrarily low TX power/Hz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-&gt; arbitrarily insensitive to band limited interference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A36078-15E3-481E-BC90-DF66421C4AC2}" type="slidenum">
              <a: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1CF9D0-CF4D-4C1F-B1E0-49980EEA6437}" type="slidenum">
              <a: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955FCF-5E59-43AD-A036-B17DC757536C}" type="slidenum">
              <a: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Code Acquisition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Receiver has no idea of the transmitter's code phase at power-on.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32 correlators run in parallel, each locked to a different candidate offset of the 1023-chip LFSR sequence.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Each integrates (local code x sampled signal) over one full code period.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Whichever correlator reports the highest peak wins -&gt; its LFSR state seeds the main tracking LFSR.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Single correlator: ~16ms / ~750 correlations to acquire. With 32 parallel correlators: under 1ms.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Trade-off: more correlators = faster acquisition, but more FPGA logic (35 correlators total incl. tracking, each n_adc+m_lfsr bits wide).</a:t>
            </a:r>
          </a:p>
        </p:txBody>
      </p:sp>
      <p:sp>
        <p:nvSpPr>
          <p:cNvPr id="399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1BE7F3-E479-4BC0-847E-62FB3C310E6E}" type="slidenum">
              <a: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Code Tracking (Delay-Locked Loop)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After acquisition, clock drift between TX and RX means the code phase slowly walks away over time.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Three correlators run simultaneously: Early, Prompt, Late (signal delayed by 0/1/2 clock cycles).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DLL compares |Early| and |Late| accumulator magnitudes against a threshold (hardcoded at 20 on the error register).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If one side consistently dominates, DLL issues advance (pause LFSR one cycle) or delay (skip LFSR forward one cycle).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Demodulated data bit = sign of the Prompt accumulator.</a:t>
            </a: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Uncorrected offsets of 5-10ppm were enough to lose lock in testing -&gt; tuning this loop was the most time-consuming part of the receiver.</a:t>
            </a:r>
          </a:p>
        </p:txBody>
      </p:sp>
      <p:sp>
        <p:nvSpPr>
          <p:cNvPr id="402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971338-1762-49BE-BD41-6713634E9136}" type="slidenum">
              <a: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000000"/>
                </a:solidFill>
                <a:latin typeface="Arial"/>
              </a:rPr>
              <a:t>1. Which other drone jamming techniques could you imagine?</a:t>
            </a:r>
            <a:br>
              <a:rPr sz="1200"/>
            </a:br>
            <a:br>
              <a:rPr sz="1200"/>
            </a:br>
            <a:r>
              <a:rPr b="0" lang="en-GB" sz="1200" spc="-1" strike="noStrike">
                <a:solidFill>
                  <a:srgbClr val="000000"/>
                </a:solidFill>
                <a:latin typeface="Arial"/>
              </a:rPr>
              <a:t>2. How do modern communication techniques prevent themselves fRom Jamming and interference?</a:t>
            </a:r>
            <a:br>
              <a:rPr sz="1200"/>
            </a:br>
            <a:br>
              <a:rPr sz="1200"/>
            </a:br>
            <a:r>
              <a:rPr b="0" lang="en-GB" sz="1200" spc="-1" strike="noStrike">
                <a:solidFill>
                  <a:srgbClr val="000000"/>
                </a:solidFill>
                <a:latin typeface="Arial"/>
              </a:rPr>
              <a:t>3. why is simultaneous sending and receiving generally a problem in radio communication?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4. How else could you protect a UAV from jamming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5787FA-C511-46AD-9571-91899EFBB372}" type="slidenum">
              <a:rPr b="0" lang="de-DE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Schlussfolie zwei Na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Titel rot weißes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Titel weiß rotes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Titel Bild weißes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Titel Bild rotes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Titel 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Titel schwarz weißes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 THA Titel weiß-schwa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Titel weiß schwarzes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leer 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Schlussfolie Band 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 Schlussfolie Band Slo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Trenner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HA Titel weiß-r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endParaRPr b="0" lang="en-US" sz="4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 nur Aufzählungs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7B32F19-A7D7-46D0-885D-51F2836B24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 nur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3A72949-F2C4-4786-A6FD-5BD97B1495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HA dreispalt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5321EAA5-0412-4393-97DF-9CD548C6CC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8.pn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4.png"/><Relationship Id="rId3" Type="http://schemas.openxmlformats.org/officeDocument/2006/relationships/image" Target="../media/image3.png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9.jpeg"/><Relationship Id="rId3" Type="http://schemas.openxmlformats.org/officeDocument/2006/relationships/image" Target="../media/image6.png"/><Relationship Id="rId4" Type="http://schemas.openxmlformats.org/officeDocument/2006/relationships/image" Target="../media/image1.png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0.jpeg"/><Relationship Id="rId3" Type="http://schemas.openxmlformats.org/officeDocument/2006/relationships/image" Target="../media/image6.png"/><Relationship Id="rId4" Type="http://schemas.openxmlformats.org/officeDocument/2006/relationships/image" Target="../media/image1.png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1.jpeg"/><Relationship Id="rId3" Type="http://schemas.openxmlformats.org/officeDocument/2006/relationships/image" Target="../media/image6.png"/><Relationship Id="rId4" Type="http://schemas.openxmlformats.org/officeDocument/2006/relationships/image" Target="../media/image1.png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2.jpeg"/><Relationship Id="rId3" Type="http://schemas.openxmlformats.org/officeDocument/2006/relationships/image" Target="../media/image6.png"/><Relationship Id="rId4" Type="http://schemas.openxmlformats.org/officeDocument/2006/relationships/image" Target="../media/image1.png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3.jpeg"/><Relationship Id="rId3" Type="http://schemas.openxmlformats.org/officeDocument/2006/relationships/image" Target="../media/image6.png"/><Relationship Id="rId4" Type="http://schemas.openxmlformats.org/officeDocument/2006/relationships/image" Target="../media/image1.png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4.jpeg"/><Relationship Id="rId3" Type="http://schemas.openxmlformats.org/officeDocument/2006/relationships/image" Target="../media/image6.png"/><Relationship Id="rId4" Type="http://schemas.openxmlformats.org/officeDocument/2006/relationships/image" Target="../media/image1.png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6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7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6.png"/><Relationship Id="rId6" Type="http://schemas.openxmlformats.org/officeDocument/2006/relationships/image" Target="../media/image16.png"/><Relationship Id="rId7" Type="http://schemas.openxmlformats.org/officeDocument/2006/relationships/image" Target="../media/image16.png"/><Relationship Id="rId8" Type="http://schemas.openxmlformats.org/officeDocument/2006/relationships/image" Target="../media/image16.png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6.png"/><Relationship Id="rId6" Type="http://schemas.openxmlformats.org/officeDocument/2006/relationships/image" Target="../media/image16.png"/><Relationship Id="rId7" Type="http://schemas.openxmlformats.org/officeDocument/2006/relationships/image" Target="../media/image16.png"/><Relationship Id="rId8" Type="http://schemas.openxmlformats.org/officeDocument/2006/relationships/image" Target="../media/image16.png"/><Relationship Id="rId9" Type="http://schemas.openxmlformats.org/officeDocument/2006/relationships/image" Target="../media/image16.png"/><Relationship Id="rId10" Type="http://schemas.openxmlformats.org/officeDocument/2006/relationships/image" Target="../media/image16.png"/><Relationship Id="rId11" Type="http://schemas.openxmlformats.org/officeDocument/2006/relationships/image" Target="../media/image16.png"/><Relationship Id="rId12" Type="http://schemas.openxmlformats.org/officeDocument/2006/relationships/image" Target="../media/image16.png"/><Relationship Id="rId13" Type="http://schemas.openxmlformats.org/officeDocument/2006/relationships/image" Target="../media/image16.png"/><Relationship Id="rId14" Type="http://schemas.openxmlformats.org/officeDocument/2006/relationships/image" Target="../media/image16.png"/><Relationship Id="rId15" Type="http://schemas.openxmlformats.org/officeDocument/2006/relationships/image" Target="../media/image16.png"/><Relationship Id="rId16" Type="http://schemas.openxmlformats.org/officeDocument/2006/relationships/image" Target="../media/image16.png"/><Relationship Id="rId17" Type="http://schemas.openxmlformats.org/officeDocument/2006/relationships/image" Target="../media/image16.png"/><Relationship Id="rId18" Type="http://schemas.openxmlformats.org/officeDocument/2006/relationships/image" Target="../media/image16.png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15.png"/><Relationship Id="rId3" Type="http://schemas.openxmlformats.org/officeDocument/2006/relationships/image" Target="../media/image15.png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6.png"/><Relationship Id="rId6" Type="http://schemas.openxmlformats.org/officeDocument/2006/relationships/image" Target="../media/image16.png"/><Relationship Id="rId7" Type="http://schemas.openxmlformats.org/officeDocument/2006/relationships/image" Target="../media/image16.png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15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8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image" Target="../media/image21.png"/><Relationship Id="rId8" Type="http://schemas.openxmlformats.org/officeDocument/2006/relationships/image" Target="../media/image22.svg"/><Relationship Id="rId9" Type="http://schemas.openxmlformats.org/officeDocument/2006/relationships/image" Target="../media/image15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4" descr=""/>
          <p:cNvPicPr/>
          <p:nvPr/>
        </p:nvPicPr>
        <p:blipFill>
          <a:blip r:embed="rId2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6095880" y="1533600"/>
            <a:ext cx="5308560" cy="196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PROF. DR. </a:t>
            </a:r>
            <a:br>
              <a:rPr sz="2400"/>
            </a:b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MAX MUSTERMANN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5880" y="3737520"/>
            <a:ext cx="5302800" cy="57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400" spc="-1" strike="noStrike">
                <a:solidFill>
                  <a:schemeClr val="lt1"/>
                </a:solidFill>
                <a:latin typeface="TWK Everett"/>
              </a:rPr>
              <a:t>Fakultät / Abteilung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400" spc="-1" strike="noStrike">
                <a:solidFill>
                  <a:schemeClr val="lt1"/>
                </a:solidFill>
                <a:latin typeface="TWK Everett"/>
              </a:rPr>
              <a:t>Funktion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522000" y="1519920"/>
            <a:ext cx="5307480" cy="196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PROF. DR. </a:t>
            </a:r>
            <a:br>
              <a:rPr sz="2400"/>
            </a:b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MAX MUSTERMANN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22360" y="5988240"/>
            <a:ext cx="9142560" cy="2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Technische Hochschule Augsburg | An der Hochschule 1 | 86161 Augsburg | www.tha.de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22360" y="4405320"/>
            <a:ext cx="5307120" cy="67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T +49 821 5586 3213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F +49 821 5586 3253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max.mustermann@tha.de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6091920" y="4405320"/>
            <a:ext cx="5307120" cy="67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T +49 821 5586 3213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F +49 821 5586 3253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max.mustermann@tha.de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6" descr="Ein Bild, das Logo, Symbol, Grafiken, Schrift enthält.&#10;&#10;Automatisch generierte Beschreibung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0" name="Grafik 4" descr=""/>
          <p:cNvPicPr/>
          <p:nvPr/>
        </p:nvPicPr>
        <p:blipFill>
          <a:blip r:embed="rId3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9AB35EF6-1635-42F8-821D-09D9ABA833F6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7" descr="Ein Bild, das Grafiken, Design enthält.&#10;&#10;Automatisch generierte Beschreibung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sp>
        <p:nvSpPr>
          <p:cNvPr id="18" name="Rechteck 6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de-DE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rgbClr val="ff0350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rgbClr val="ff0350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rgbClr val="ff0350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dk1"/>
                </a:solidFill>
                <a:latin typeface="TWK Everett"/>
              </a:rPr>
              <a:t>PROF. DR. MAX MUSTERMANN – AUGSBURG </a:t>
            </a:r>
            <a:fld id="{3ED94D88-0174-4BB8-BD2B-1C75C89AB895}" type="datetime1">
              <a:rPr b="1" lang="de-DE" sz="850" spc="-1" strike="noStrike">
                <a:solidFill>
                  <a:schemeClr val="dk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1" name="Grafik 4" descr=""/>
          <p:cNvPicPr/>
          <p:nvPr/>
        </p:nvPicPr>
        <p:blipFill>
          <a:blip r:embed="rId3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fik 1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25" name="Grafik 3" descr=""/>
          <p:cNvPicPr/>
          <p:nvPr/>
        </p:nvPicPr>
        <p:blipFill>
          <a:blip r:embed="rId3"/>
          <a:stretch/>
        </p:blipFill>
        <p:spPr>
          <a:xfrm>
            <a:off x="0" y="108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26" name="Grafik 2" descr="Ein Bild, das Logo, Symbol, Grafiken, Schrift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27" name="Grafik 4" descr=""/>
          <p:cNvPicPr/>
          <p:nvPr/>
        </p:nvPicPr>
        <p:blipFill>
          <a:blip r:embed="rId5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E9F19E57-A193-45EA-B4F0-609C1432019B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11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33" name="Grafik 1" descr=""/>
          <p:cNvPicPr/>
          <p:nvPr/>
        </p:nvPicPr>
        <p:blipFill>
          <a:blip r:embed="rId3"/>
          <a:stretch/>
        </p:blipFill>
        <p:spPr>
          <a:xfrm>
            <a:off x="0" y="108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34" name="Grafik 2" descr="Ein Bild, das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0" y="0"/>
            <a:ext cx="12184200" cy="685296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131F9C11-0062-49B5-8AB7-D5C3CA03A683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7" name="Grafik 5" descr=""/>
          <p:cNvPicPr/>
          <p:nvPr/>
        </p:nvPicPr>
        <p:blipFill>
          <a:blip r:embed="rId5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fik 4" descr=""/>
          <p:cNvPicPr/>
          <p:nvPr/>
        </p:nvPicPr>
        <p:blipFill>
          <a:blip r:embed="rId2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F909C04C-854A-47BB-9221-DFA6AB9F63FA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6" descr="Ein Bild, das Logo, Symbol, Grafiken, Schrift enthält.&#10;&#10;Automatisch generierte Beschreibung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46" name="Grafik 4" descr=""/>
          <p:cNvPicPr/>
          <p:nvPr/>
        </p:nvPicPr>
        <p:blipFill>
          <a:blip r:embed="rId3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28BF8A4C-742A-4165-83CB-477BA88ACB01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rafik 4" descr=""/>
          <p:cNvPicPr/>
          <p:nvPr/>
        </p:nvPicPr>
        <p:blipFill>
          <a:blip r:embed="rId2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dk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dk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dk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dk1"/>
                </a:solidFill>
                <a:latin typeface="TWK Everett"/>
              </a:rPr>
              <a:t>PROF. DR. MAX MUSTERMANN – AUGSBURG </a:t>
            </a:r>
            <a:fld id="{8E3ADA06-F23B-4FCB-A267-3285A1488808}" type="datetime1">
              <a:rPr b="1" lang="de-DE" sz="850" spc="-1" strike="noStrike">
                <a:solidFill>
                  <a:schemeClr val="dk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fik 5" descr="Ein Bild, das Schwarz, Dunkelheit enthält.&#10;&#10;Automatisch generierte Beschreibung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dk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dk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dk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dk1"/>
                </a:solidFill>
                <a:latin typeface="TWK Everett"/>
              </a:rPr>
              <a:t>PROF. DR. MAX MUSTERMANN – AUGSBURG </a:t>
            </a:r>
            <a:fld id="{812F40EB-A692-499F-8346-AA0C0CDAC3AA}" type="datetime1">
              <a:rPr b="1" lang="de-DE" sz="850" spc="-1" strike="noStrike">
                <a:solidFill>
                  <a:schemeClr val="dk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59" name="Grafik 1" descr=""/>
          <p:cNvPicPr/>
          <p:nvPr/>
        </p:nvPicPr>
        <p:blipFill>
          <a:blip r:embed="rId3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rafik 2" descr="Ein Bild, das Logo, Symbol, Grafiken, Schrift enthält.&#10;&#10;Automatisch generierte Beschreibung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65" name="Grafik 4" descr=""/>
          <p:cNvPicPr/>
          <p:nvPr/>
        </p:nvPicPr>
        <p:blipFill>
          <a:blip r:embed="rId3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22000" y="2322000"/>
            <a:ext cx="914256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800" spc="-1" strike="noStrike" cap="all">
                <a:solidFill>
                  <a:schemeClr val="lt1"/>
                </a:solidFill>
                <a:latin typeface="TWK Everett"/>
              </a:rPr>
              <a:t>Gemeinsam </a:t>
            </a:r>
            <a:br>
              <a:rPr sz="4800"/>
            </a:br>
            <a:r>
              <a:rPr b="1" lang="de-DE" sz="4800" spc="-1" strike="noStrike" cap="all">
                <a:solidFill>
                  <a:schemeClr val="lt1"/>
                </a:solidFill>
                <a:latin typeface="TWK Everett"/>
              </a:rPr>
              <a:t>gestalten wir </a:t>
            </a:r>
            <a:br>
              <a:rPr sz="4800"/>
            </a:br>
            <a:r>
              <a:rPr b="1" lang="de-DE" sz="4800" spc="-1" strike="noStrike" cap="all">
                <a:solidFill>
                  <a:schemeClr val="lt1"/>
                </a:solidFill>
                <a:latin typeface="TWK Everett"/>
              </a:rPr>
              <a:t>die Welt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  <p:sldLayoutId id="2147483672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rafik 4" descr=""/>
          <p:cNvPicPr/>
          <p:nvPr/>
        </p:nvPicPr>
        <p:blipFill>
          <a:blip r:embed="rId2"/>
          <a:srcRect l="0" t="0" r="43909" b="0"/>
          <a:stretch/>
        </p:blipFill>
        <p:spPr>
          <a:xfrm>
            <a:off x="415440" y="201240"/>
            <a:ext cx="1186560" cy="7077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4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hteck 6"/>
          <p:cNvSpPr/>
          <p:nvPr/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de-DE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rgbClr val="ff0350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rgbClr val="ff0350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rgbClr val="ff0350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dk1"/>
                </a:solidFill>
                <a:latin typeface="TWK Everett"/>
              </a:rPr>
              <a:t>Daniel Kuban, Thomas Homm | Emerging Technologies</a:t>
            </a:r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76" name="Grafik 4" descr=""/>
          <p:cNvPicPr/>
          <p:nvPr/>
        </p:nvPicPr>
        <p:blipFill>
          <a:blip r:embed="rId2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6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fik 4" descr=""/>
          <p:cNvPicPr/>
          <p:nvPr/>
        </p:nvPicPr>
        <p:blipFill>
          <a:blip r:embed="rId2"/>
          <a:srcRect l="0" t="0" r="43909" b="0"/>
          <a:stretch/>
        </p:blipFill>
        <p:spPr>
          <a:xfrm>
            <a:off x="415440" y="201240"/>
            <a:ext cx="1186560" cy="707760"/>
          </a:xfrm>
          <a:prstGeom prst="rect">
            <a:avLst/>
          </a:prstGeom>
          <a:ln w="0">
            <a:noFill/>
          </a:ln>
        </p:spPr>
      </p:pic>
      <p:pic>
        <p:nvPicPr>
          <p:cNvPr id="80" name="Grafik 1" descr="Ein Bild, das Logo, Symbol, Grafiken, Schrift enthält.&#10;&#10;Automatisch generierte Beschreibung"/>
          <p:cNvPicPr/>
          <p:nvPr/>
        </p:nvPicPr>
        <p:blipFill>
          <a:blip r:embed="rId3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2400"/>
            </a:b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2400"/>
            </a:b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chemeClr val="dk2"/>
                </a:solidFill>
                <a:latin typeface="TWK Everett"/>
              </a:rPr>
              <a:t>HIER STEHT DIE HEADLINE</a:t>
            </a:r>
            <a:br>
              <a:rPr sz="2400"/>
            </a:br>
            <a:r>
              <a:rPr b="1" lang="de-DE" sz="2400" spc="-1" strike="noStrike" cap="all">
                <a:solidFill>
                  <a:schemeClr val="dk2"/>
                </a:solidFill>
                <a:latin typeface="TWK Everett"/>
              </a:rPr>
              <a:t>DER PRÄSENTATION</a:t>
            </a:r>
            <a:br>
              <a:rPr sz="2400"/>
            </a:br>
            <a:r>
              <a:rPr b="1" lang="de-DE" sz="2400" spc="-1" strike="noStrike" cap="all">
                <a:solidFill>
                  <a:schemeClr val="dk2"/>
                </a:solidFill>
                <a:latin typeface="TWK Everett"/>
              </a:rPr>
              <a:t>ÜBER MEHRERE ZEILEN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83" name="Grafik 5" descr=""/>
          <p:cNvPicPr/>
          <p:nvPr/>
        </p:nvPicPr>
        <p:blipFill>
          <a:blip r:embed="rId2"/>
          <a:srcRect l="-2" t="0" r="42179" b="0"/>
          <a:stretch/>
        </p:blipFill>
        <p:spPr>
          <a:xfrm>
            <a:off x="415440" y="201240"/>
            <a:ext cx="1222560" cy="707760"/>
          </a:xfrm>
          <a:prstGeom prst="rect">
            <a:avLst/>
          </a:prstGeom>
          <a:ln w="0">
            <a:noFill/>
          </a:ln>
        </p:spPr>
      </p:pic>
      <p:pic>
        <p:nvPicPr>
          <p:cNvPr id="84" name="Grafik 6" descr="Ein Bild, das Grafiken, Design enthält.&#10;&#10;Automatisch generierte Beschreibung"/>
          <p:cNvPicPr/>
          <p:nvPr/>
        </p:nvPicPr>
        <p:blipFill>
          <a:blip r:embed="rId3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rafik 4" descr=""/>
          <p:cNvPicPr/>
          <p:nvPr/>
        </p:nvPicPr>
        <p:blipFill>
          <a:blip r:embed="rId2"/>
          <a:srcRect l="0" t="0" r="43908" b="0"/>
          <a:stretch/>
        </p:blipFill>
        <p:spPr>
          <a:xfrm>
            <a:off x="415440" y="201240"/>
            <a:ext cx="1186560" cy="70776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2400"/>
            </a:b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2400"/>
            </a:b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rafik 4" descr=""/>
          <p:cNvPicPr/>
          <p:nvPr/>
        </p:nvPicPr>
        <p:blipFill>
          <a:blip r:embed="rId2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22000" y="1519920"/>
            <a:ext cx="9142560" cy="196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chemeClr val="lt1"/>
                </a:solidFill>
                <a:latin typeface="TWK Everett"/>
              </a:rPr>
              <a:t>PROF. DR. MAX MUSTERMANN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22360" y="4470120"/>
            <a:ext cx="9142560" cy="177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Technische Hochschule Augsburg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An der Hochschule 1 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86161 Augsburg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T +49 821 5586 3213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F +49 821 5586 3253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max.mustermann@tha.de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lt1"/>
                </a:solidFill>
                <a:latin typeface="TWK Everett"/>
              </a:rPr>
              <a:t>www.tha.de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7" marL="3456000" indent="0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b="0" lang="de-DE" sz="14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rafik 4" descr=""/>
          <p:cNvPicPr/>
          <p:nvPr/>
        </p:nvPicPr>
        <p:blipFill>
          <a:blip r:embed="rId2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C4705250-DB14-4A75-B67E-C12DDF244FCC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rafik 11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94" name="Grafik 1" descr=""/>
          <p:cNvPicPr/>
          <p:nvPr/>
        </p:nvPicPr>
        <p:blipFill>
          <a:blip r:embed="rId3"/>
          <a:stretch/>
        </p:blipFill>
        <p:spPr>
          <a:xfrm>
            <a:off x="0" y="108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95" name="Grafik 4" descr=""/>
          <p:cNvPicPr/>
          <p:nvPr/>
        </p:nvPicPr>
        <p:blipFill>
          <a:blip r:embed="rId4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82EC59B8-2D34-4398-9702-656109A08A53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rafik 11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99" name="Grafik 1" descr=""/>
          <p:cNvPicPr/>
          <p:nvPr/>
        </p:nvPicPr>
        <p:blipFill>
          <a:blip r:embed="rId3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00" name="Grafik 4" descr=""/>
          <p:cNvPicPr/>
          <p:nvPr/>
        </p:nvPicPr>
        <p:blipFill>
          <a:blip r:embed="rId4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639C19DD-A8B1-401B-B705-DB5E5C1D4602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rafik 11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04" name="Grafik 1" descr=""/>
          <p:cNvPicPr/>
          <p:nvPr/>
        </p:nvPicPr>
        <p:blipFill>
          <a:blip r:embed="rId3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05" name="Grafik 4" descr=""/>
          <p:cNvPicPr/>
          <p:nvPr/>
        </p:nvPicPr>
        <p:blipFill>
          <a:blip r:embed="rId4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3170E362-878D-412C-A940-34A6DEA593FA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rafik 11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09" name="Grafik 1" descr=""/>
          <p:cNvPicPr/>
          <p:nvPr/>
        </p:nvPicPr>
        <p:blipFill>
          <a:blip r:embed="rId3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10" name="Grafik 4" descr=""/>
          <p:cNvPicPr/>
          <p:nvPr/>
        </p:nvPicPr>
        <p:blipFill>
          <a:blip r:embed="rId4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F42D8AC7-A2F7-4D99-AEB9-F7A9E73879C1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rafik 11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14" name="Grafik 1" descr=""/>
          <p:cNvPicPr/>
          <p:nvPr/>
        </p:nvPicPr>
        <p:blipFill>
          <a:blip r:embed="rId3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15" name="Grafik 4" descr=""/>
          <p:cNvPicPr/>
          <p:nvPr/>
        </p:nvPicPr>
        <p:blipFill>
          <a:blip r:embed="rId4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4FBBE9ED-EDDD-41DA-979A-5E552248A3F3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rafik 11" descr=""/>
          <p:cNvPicPr/>
          <p:nvPr/>
        </p:nvPicPr>
        <p:blipFill>
          <a:blip r:embed="rId2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19" name="Grafik 1" descr=""/>
          <p:cNvPicPr/>
          <p:nvPr/>
        </p:nvPicPr>
        <p:blipFill>
          <a:blip r:embed="rId3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ln w="0">
            <a:noFill/>
          </a:ln>
        </p:spPr>
      </p:pic>
      <p:pic>
        <p:nvPicPr>
          <p:cNvPr id="120" name="Grafik 4" descr=""/>
          <p:cNvPicPr/>
          <p:nvPr/>
        </p:nvPicPr>
        <p:blipFill>
          <a:blip r:embed="rId4"/>
          <a:stretch/>
        </p:blipFill>
        <p:spPr>
          <a:xfrm>
            <a:off x="415440" y="201240"/>
            <a:ext cx="2116440" cy="707760"/>
          </a:xfrm>
          <a:prstGeom prst="rect">
            <a:avLst/>
          </a:prstGeom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HIER STEHT DIE HEADLINE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DER PRÄSENTATION</a:t>
            </a:r>
            <a:br>
              <a:rPr sz="4200"/>
            </a:br>
            <a:r>
              <a:rPr b="1" lang="de-DE" sz="4200" spc="-1" strike="noStrike" cap="all">
                <a:solidFill>
                  <a:schemeClr val="lt1"/>
                </a:solidFill>
                <a:latin typeface="TWK Everett"/>
              </a:rPr>
              <a:t>ÜBER MEHRERE ZEILEN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522000" y="6125760"/>
            <a:ext cx="4965840" cy="3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850" spc="-1" strike="noStrike">
                <a:solidFill>
                  <a:schemeClr val="lt1"/>
                </a:solidFill>
                <a:latin typeface="TWK Everett"/>
              </a:rPr>
              <a:t>PROF. DR. MAX MUSTERMANN – AUGSBURG </a:t>
            </a:r>
            <a:fld id="{61FA50FD-1312-4F3B-8E75-B53D772E74D2}" type="datetime1">
              <a:rPr b="1" lang="de-DE" sz="850" spc="-1" strike="noStrike">
                <a:solidFill>
                  <a:schemeClr val="lt1"/>
                </a:solidFill>
                <a:latin typeface="TWK Everett"/>
              </a:rPr>
              <a:t>14.07.2026</a:t>
            </a:fld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24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22000" y="2604960"/>
            <a:ext cx="3134160" cy="32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1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ftr" idx="2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sldNum" idx="3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5B9960-975E-49FB-AB47-A671537BEFC2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>
          <a:xfrm>
            <a:off x="4284000" y="2604960"/>
            <a:ext cx="3134160" cy="32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>
          <a:xfrm>
            <a:off x="8064000" y="2610000"/>
            <a:ext cx="3134160" cy="326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" name="PlaceHolder 8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3" name="PlaceHolder 9"/>
          <p:cNvSpPr>
            <a:spLocks noGrp="1"/>
          </p:cNvSpPr>
          <p:nvPr>
            <p:ph type="body"/>
          </p:nvPr>
        </p:nvSpPr>
        <p:spPr>
          <a:xfrm>
            <a:off x="522360" y="2226600"/>
            <a:ext cx="3133800" cy="2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900" spc="-1" strike="noStrike">
                <a:solidFill>
                  <a:srgbClr val="ff0350"/>
                </a:solidFill>
                <a:latin typeface="TWK Everett Medium"/>
              </a:rPr>
              <a:t>1.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4" name="PlaceHolder 10"/>
          <p:cNvSpPr>
            <a:spLocks noGrp="1"/>
          </p:cNvSpPr>
          <p:nvPr>
            <p:ph type="body"/>
          </p:nvPr>
        </p:nvSpPr>
        <p:spPr>
          <a:xfrm>
            <a:off x="4284000" y="2226600"/>
            <a:ext cx="3133800" cy="2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900" spc="-1" strike="noStrike">
                <a:solidFill>
                  <a:srgbClr val="ff0350"/>
                </a:solidFill>
                <a:latin typeface="TWK Everett Medium"/>
              </a:rPr>
              <a:t>2.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" name="PlaceHolder 11"/>
          <p:cNvSpPr>
            <a:spLocks noGrp="1"/>
          </p:cNvSpPr>
          <p:nvPr>
            <p:ph type="body"/>
          </p:nvPr>
        </p:nvSpPr>
        <p:spPr>
          <a:xfrm>
            <a:off x="8064000" y="2226600"/>
            <a:ext cx="3133800" cy="2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900" spc="-1" strike="noStrike">
                <a:solidFill>
                  <a:srgbClr val="ff0350"/>
                </a:solidFill>
                <a:latin typeface="TWK Everett Medium"/>
              </a:rPr>
              <a:t>3.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36" name="Grafik 17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38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1466280" y="4131720"/>
            <a:ext cx="2878560" cy="17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algn="ctr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EIN WICHTIGER ERSTER PUNKT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4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ftr" idx="5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5"/>
          <p:cNvSpPr>
            <a:spLocks noGrp="1"/>
          </p:cNvSpPr>
          <p:nvPr>
            <p:ph type="sldNum" idx="6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4F04BD-CCD2-4B57-8741-5A6DE1C0E096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6"/>
          <p:cNvSpPr>
            <a:spLocks noGrp="1"/>
          </p:cNvSpPr>
          <p:nvPr>
            <p:ph type="body"/>
          </p:nvPr>
        </p:nvSpPr>
        <p:spPr>
          <a:xfrm>
            <a:off x="4668840" y="4131720"/>
            <a:ext cx="2878560" cy="17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EIN WICHTIGER ZWEITER PUNKT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" name="PlaceHolder 7"/>
          <p:cNvSpPr>
            <a:spLocks noGrp="1"/>
          </p:cNvSpPr>
          <p:nvPr>
            <p:ph type="body"/>
          </p:nvPr>
        </p:nvSpPr>
        <p:spPr>
          <a:xfrm>
            <a:off x="7856280" y="4131720"/>
            <a:ext cx="2878560" cy="17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EIN WICHTIGER DRITTER PUNKT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6" name="PlaceHolder 8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7" name="PlaceHolder 9"/>
          <p:cNvSpPr>
            <a:spLocks noGrp="1"/>
          </p:cNvSpPr>
          <p:nvPr>
            <p:ph type="body"/>
          </p:nvPr>
        </p:nvSpPr>
        <p:spPr>
          <a:xfrm>
            <a:off x="1466280" y="2335680"/>
            <a:ext cx="2878560" cy="143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" name="PlaceHolder 10"/>
          <p:cNvSpPr>
            <a:spLocks noGrp="1"/>
          </p:cNvSpPr>
          <p:nvPr>
            <p:ph type="body"/>
          </p:nvPr>
        </p:nvSpPr>
        <p:spPr>
          <a:xfrm>
            <a:off x="4668840" y="2335680"/>
            <a:ext cx="2878560" cy="143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9" name="PlaceHolder 11"/>
          <p:cNvSpPr>
            <a:spLocks noGrp="1"/>
          </p:cNvSpPr>
          <p:nvPr>
            <p:ph type="body"/>
          </p:nvPr>
        </p:nvSpPr>
        <p:spPr>
          <a:xfrm>
            <a:off x="7845480" y="2336400"/>
            <a:ext cx="2878560" cy="143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50" name="Grafik 12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52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dt" idx="7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ftr" idx="8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sldNum" idx="9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F6C2D9-BBA9-4EDA-9DE5-4D56A77E5524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58" name="Grafik 17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59" name="PlaceHolder 6"/>
          <p:cNvSpPr>
            <a:spLocks noGrp="1"/>
          </p:cNvSpPr>
          <p:nvPr>
            <p:ph type="body"/>
          </p:nvPr>
        </p:nvSpPr>
        <p:spPr>
          <a:xfrm>
            <a:off x="4475880" y="2226600"/>
            <a:ext cx="3238560" cy="361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 type="body"/>
          </p:nvPr>
        </p:nvSpPr>
        <p:spPr>
          <a:xfrm>
            <a:off x="528120" y="2226600"/>
            <a:ext cx="3238560" cy="3616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1" name="PlaceHolder 8"/>
          <p:cNvSpPr>
            <a:spLocks noGrp="1"/>
          </p:cNvSpPr>
          <p:nvPr>
            <p:ph type="body"/>
          </p:nvPr>
        </p:nvSpPr>
        <p:spPr>
          <a:xfrm>
            <a:off x="8423640" y="2226600"/>
            <a:ext cx="3238560" cy="361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63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1466280" y="4131720"/>
            <a:ext cx="2878560" cy="32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algn="ctr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PROFESSOR*INNEN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dt" idx="10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11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12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509B25-DD43-40FF-829C-829CB26253BA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body"/>
          </p:nvPr>
        </p:nvSpPr>
        <p:spPr>
          <a:xfrm>
            <a:off x="4668840" y="4131720"/>
            <a:ext cx="2878560" cy="32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LEHRBEAUFTRAGTE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 type="body"/>
          </p:nvPr>
        </p:nvSpPr>
        <p:spPr>
          <a:xfrm>
            <a:off x="7856280" y="4131720"/>
            <a:ext cx="2878560" cy="32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MITARBEITENDE*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1" name="PlaceHolder 8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72" name="Grafik 12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73" name="PlaceHolder 9"/>
          <p:cNvSpPr>
            <a:spLocks noGrp="1"/>
          </p:cNvSpPr>
          <p:nvPr>
            <p:ph type="body"/>
          </p:nvPr>
        </p:nvSpPr>
        <p:spPr>
          <a:xfrm>
            <a:off x="1467000" y="2399760"/>
            <a:ext cx="2878560" cy="143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marL="228600" indent="0" algn="ctr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6400" spc="-1" strike="noStrike">
                <a:solidFill>
                  <a:srgbClr val="ff0350"/>
                </a:solidFill>
                <a:latin typeface="TWK Everett"/>
              </a:rPr>
              <a:t>170</a:t>
            </a:r>
            <a:endParaRPr b="0" lang="en-US" sz="6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4" name="PlaceHolder 10"/>
          <p:cNvSpPr>
            <a:spLocks noGrp="1"/>
          </p:cNvSpPr>
          <p:nvPr>
            <p:ph type="body"/>
          </p:nvPr>
        </p:nvSpPr>
        <p:spPr>
          <a:xfrm>
            <a:off x="4669200" y="2399760"/>
            <a:ext cx="2878560" cy="143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marL="228600" indent="0" algn="ctr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6400" spc="-1" strike="noStrike">
                <a:solidFill>
                  <a:srgbClr val="ff0350"/>
                </a:solidFill>
                <a:latin typeface="TWK Everett"/>
              </a:rPr>
              <a:t>300</a:t>
            </a:r>
            <a:endParaRPr b="0" lang="en-US" sz="6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5" name="PlaceHolder 11"/>
          <p:cNvSpPr>
            <a:spLocks noGrp="1"/>
          </p:cNvSpPr>
          <p:nvPr>
            <p:ph type="body"/>
          </p:nvPr>
        </p:nvSpPr>
        <p:spPr>
          <a:xfrm>
            <a:off x="7855200" y="2399760"/>
            <a:ext cx="2878560" cy="143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marL="228600" indent="0" algn="ctr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6400" spc="-1" strike="noStrike">
                <a:solidFill>
                  <a:srgbClr val="ff0350"/>
                </a:solidFill>
                <a:latin typeface="TWK Everett"/>
              </a:rPr>
              <a:t>290</a:t>
            </a:r>
            <a:endParaRPr b="0" lang="en-US" sz="6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6" name="PlaceHolder 12"/>
          <p:cNvSpPr>
            <a:spLocks noGrp="1"/>
          </p:cNvSpPr>
          <p:nvPr>
            <p:ph type="body"/>
          </p:nvPr>
        </p:nvSpPr>
        <p:spPr>
          <a:xfrm>
            <a:off x="7855200" y="4493160"/>
            <a:ext cx="2878200" cy="13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150" spc="-1" strike="noStrike">
                <a:solidFill>
                  <a:schemeClr val="dk1"/>
                </a:solidFill>
                <a:latin typeface="TWK Everett"/>
              </a:rPr>
              <a:t>*Wissenschaftsstützende</a:t>
            </a:r>
            <a:br>
              <a:rPr sz="1150"/>
            </a:br>
            <a:r>
              <a:rPr b="0" lang="de-DE" sz="1150" spc="-1" strike="noStrike">
                <a:solidFill>
                  <a:schemeClr val="dk1"/>
                </a:solidFill>
                <a:latin typeface="TWK Everett"/>
              </a:rPr>
              <a:t>&amp; Mitarbeiter*innen</a:t>
            </a:r>
            <a:endParaRPr b="0" lang="en-US" sz="11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7" name="PlaceHolder 13"/>
          <p:cNvSpPr>
            <a:spLocks noGrp="1"/>
          </p:cNvSpPr>
          <p:nvPr>
            <p:ph type="body"/>
          </p:nvPr>
        </p:nvSpPr>
        <p:spPr>
          <a:xfrm>
            <a:off x="4656240" y="4495320"/>
            <a:ext cx="2878200" cy="13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150" spc="-1" strike="noStrike">
                <a:solidFill>
                  <a:schemeClr val="dk1"/>
                </a:solidFill>
                <a:latin typeface="TWK Everett"/>
              </a:rPr>
              <a:t>Text optional</a:t>
            </a:r>
            <a:endParaRPr b="0" lang="en-US" sz="11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8" name="PlaceHolder 14"/>
          <p:cNvSpPr>
            <a:spLocks noGrp="1"/>
          </p:cNvSpPr>
          <p:nvPr>
            <p:ph type="body"/>
          </p:nvPr>
        </p:nvSpPr>
        <p:spPr>
          <a:xfrm>
            <a:off x="1456920" y="4493160"/>
            <a:ext cx="2878200" cy="13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150" spc="-1" strike="noStrike">
                <a:solidFill>
                  <a:schemeClr val="dk1"/>
                </a:solidFill>
                <a:latin typeface="TWK Everett"/>
              </a:rPr>
              <a:t>Text optional</a:t>
            </a:r>
            <a:endParaRPr b="0" lang="en-US" sz="11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80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5856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dt" idx="13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ftr" idx="14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sldNum" idx="15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EB5AC3-B89E-4AFD-82A0-AF951E2DA633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820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86" name="Grafik 14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87" name="PlaceHolder 6"/>
          <p:cNvSpPr>
            <a:spLocks noGrp="1"/>
          </p:cNvSpPr>
          <p:nvPr>
            <p:ph type="body"/>
          </p:nvPr>
        </p:nvSpPr>
        <p:spPr>
          <a:xfrm>
            <a:off x="1980000" y="2473920"/>
            <a:ext cx="8249760" cy="30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8" name="PlaceHolder 7"/>
          <p:cNvSpPr>
            <a:spLocks noGrp="1"/>
          </p:cNvSpPr>
          <p:nvPr>
            <p:ph type="body"/>
          </p:nvPr>
        </p:nvSpPr>
        <p:spPr>
          <a:xfrm>
            <a:off x="6792840" y="2120040"/>
            <a:ext cx="3318480" cy="35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r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chemeClr val="accent4"/>
                </a:solidFill>
                <a:latin typeface="TWK Everett"/>
              </a:rPr>
              <a:t>Quelle: Lorem ipsum dolor sit amet, consetetur sadipscing elitr </a:t>
            </a:r>
            <a:endParaRPr b="0" lang="en-US" sz="85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90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5856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dt" idx="16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ftr" idx="17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sldNum" idx="18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4DC5D3-C654-4B77-855C-AE522A8F8BAA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820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96" name="Grafik 14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97" name="PlaceHolder 6"/>
          <p:cNvSpPr>
            <a:spLocks noGrp="1"/>
          </p:cNvSpPr>
          <p:nvPr>
            <p:ph type="body"/>
          </p:nvPr>
        </p:nvSpPr>
        <p:spPr>
          <a:xfrm>
            <a:off x="1980000" y="2134800"/>
            <a:ext cx="8249760" cy="342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199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dt" idx="19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ftr" idx="20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21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3499C6-16E2-496C-8DEE-C75B4FBDBC17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03" name="Grafik 14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05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522000" y="2394000"/>
            <a:ext cx="11150280" cy="348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22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ftr" idx="23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sldNum" idx="24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B16043-CFFE-427E-988B-7A8C31056BE5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PlaceHolder 6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12" name="Grafik 14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6" r:id="rId4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14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522000" y="2394000"/>
            <a:ext cx="11150280" cy="348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dt" idx="25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ftr" idx="26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sldNum" idx="27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B7B7F9-61D8-40A8-AC3B-67AFEC9EDF43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6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21" name="Grafik 14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98" r:id="rId4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23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522000" y="2394000"/>
            <a:ext cx="5398560" cy="348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dt" idx="28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ftr" idx="29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 type="sldNum" idx="30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9DB7FA-7CF2-45F9-B2FE-64135C6FC25F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PlaceHolder 6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30" name="Grafik 14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31" name="PlaceHolder 7"/>
          <p:cNvSpPr>
            <a:spLocks noGrp="1"/>
          </p:cNvSpPr>
          <p:nvPr>
            <p:ph type="body"/>
          </p:nvPr>
        </p:nvSpPr>
        <p:spPr>
          <a:xfrm>
            <a:off x="6296040" y="2392200"/>
            <a:ext cx="5398560" cy="348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SzPct val="100058"/>
              <a:buBlip>
                <a:blip r:embed="rId4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504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5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756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6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008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7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1260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8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33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dt" idx="31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ftr" idx="32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sldNum" idx="33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E494D6-B013-45C2-873D-2F8E41B3E134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39" name="Grafik 17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40" name="PlaceHolder 6"/>
          <p:cNvSpPr>
            <a:spLocks noGrp="1"/>
          </p:cNvSpPr>
          <p:nvPr>
            <p:ph type="body"/>
          </p:nvPr>
        </p:nvSpPr>
        <p:spPr>
          <a:xfrm>
            <a:off x="522000" y="2394000"/>
            <a:ext cx="3133800" cy="348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SzPct val="100058"/>
              <a:buBlip>
                <a:blip r:embed="rId4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504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5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756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6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008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7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1260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8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1" name="PlaceHolder 7"/>
          <p:cNvSpPr>
            <a:spLocks noGrp="1"/>
          </p:cNvSpPr>
          <p:nvPr>
            <p:ph type="body"/>
          </p:nvPr>
        </p:nvSpPr>
        <p:spPr>
          <a:xfrm>
            <a:off x="4272120" y="2394000"/>
            <a:ext cx="3133800" cy="348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SzPct val="100058"/>
              <a:buBlip>
                <a:blip r:embed="rId9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504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10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756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11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008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12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1260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13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2" name="PlaceHolder 8"/>
          <p:cNvSpPr>
            <a:spLocks noGrp="1"/>
          </p:cNvSpPr>
          <p:nvPr>
            <p:ph type="body"/>
          </p:nvPr>
        </p:nvSpPr>
        <p:spPr>
          <a:xfrm>
            <a:off x="8080200" y="2394000"/>
            <a:ext cx="3133800" cy="348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SzPct val="100058"/>
              <a:buBlip>
                <a:blip r:embed="rId14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504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15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756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16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008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17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1260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18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44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22000" y="484920"/>
            <a:ext cx="5668560" cy="120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</a:t>
            </a:r>
            <a:br>
              <a:rPr sz="2400"/>
            </a:b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DER PRÄSENTATION </a:t>
            </a:r>
            <a:br>
              <a:rPr sz="2400"/>
            </a:b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ÜBER MEHRERE ZEILEN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522000" y="2394000"/>
            <a:ext cx="5668560" cy="350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dt" idx="34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ftr" idx="35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 type="sldNum" idx="36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4787CC-6F17-4177-B57E-0ED6F72347AF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6"/>
          <p:cNvSpPr>
            <a:spLocks noGrp="1"/>
          </p:cNvSpPr>
          <p:nvPr>
            <p:ph type="body"/>
          </p:nvPr>
        </p:nvSpPr>
        <p:spPr>
          <a:xfrm>
            <a:off x="6534000" y="522000"/>
            <a:ext cx="5668560" cy="537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51" name="Grafik 12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53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dt" idx="37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ftr" idx="38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sldNum" idx="39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61A824-9FF7-4213-A273-5C7A42D87AB8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59" name="Grafik 14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61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003720" y="484920"/>
            <a:ext cx="5668560" cy="120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</a:t>
            </a:r>
            <a:br>
              <a:rPr sz="2400"/>
            </a:b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DER PRÄSENTATION </a:t>
            </a:r>
            <a:br>
              <a:rPr sz="2400"/>
            </a:b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ÜBER MEHRERE ZEILEN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003720" y="2394000"/>
            <a:ext cx="5668560" cy="350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dt" idx="40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ftr" idx="41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42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F7C353-9380-4E14-98B2-E29096D111AA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6"/>
          <p:cNvSpPr>
            <a:spLocks noGrp="1"/>
          </p:cNvSpPr>
          <p:nvPr>
            <p:ph type="body"/>
          </p:nvPr>
        </p:nvSpPr>
        <p:spPr>
          <a:xfrm>
            <a:off x="0" y="522000"/>
            <a:ext cx="5668560" cy="537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68" name="Grafik 12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70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22000" y="484920"/>
            <a:ext cx="5668560" cy="120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</a:t>
            </a:r>
            <a:br>
              <a:rPr sz="2400"/>
            </a:b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DER PRÄSENTATION </a:t>
            </a:r>
            <a:br>
              <a:rPr sz="2400"/>
            </a:b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ÜBER MEHRERE ZEILEN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522000" y="2394000"/>
            <a:ext cx="5668560" cy="350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dt" idx="43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4"/>
          <p:cNvSpPr>
            <a:spLocks noGrp="1"/>
          </p:cNvSpPr>
          <p:nvPr>
            <p:ph type="ftr" idx="44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PlaceHolder 5"/>
          <p:cNvSpPr>
            <a:spLocks noGrp="1"/>
          </p:cNvSpPr>
          <p:nvPr>
            <p:ph type="sldNum" idx="45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3356A8-B4E6-4F82-86B2-4AC6E0BA02F9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6"/>
          <p:cNvSpPr>
            <a:spLocks noGrp="1"/>
          </p:cNvSpPr>
          <p:nvPr>
            <p:ph type="body"/>
          </p:nvPr>
        </p:nvSpPr>
        <p:spPr>
          <a:xfrm>
            <a:off x="6534000" y="522000"/>
            <a:ext cx="5668560" cy="251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77" name="Grafik 12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78" name="PlaceHolder 7"/>
          <p:cNvSpPr>
            <a:spLocks noGrp="1"/>
          </p:cNvSpPr>
          <p:nvPr>
            <p:ph type="body"/>
          </p:nvPr>
        </p:nvSpPr>
        <p:spPr>
          <a:xfrm>
            <a:off x="6521760" y="3378600"/>
            <a:ext cx="5668560" cy="251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80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6003720" y="484920"/>
            <a:ext cx="5668560" cy="120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</a:t>
            </a:r>
            <a:br>
              <a:rPr sz="2400"/>
            </a:b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DER PRÄSENTATION </a:t>
            </a:r>
            <a:br>
              <a:rPr sz="2400"/>
            </a:b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ÜBER MEHRERE ZEILEN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003720" y="2394000"/>
            <a:ext cx="5668560" cy="350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Dritte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Vierte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Fünfte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dt" idx="46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ftr" idx="47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PlaceHolder 5"/>
          <p:cNvSpPr>
            <a:spLocks noGrp="1"/>
          </p:cNvSpPr>
          <p:nvPr>
            <p:ph type="sldNum" idx="48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3D54F4-A736-4E34-9FBB-0282D7A16A44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PlaceHolder 6"/>
          <p:cNvSpPr>
            <a:spLocks noGrp="1"/>
          </p:cNvSpPr>
          <p:nvPr>
            <p:ph type="body"/>
          </p:nvPr>
        </p:nvSpPr>
        <p:spPr>
          <a:xfrm>
            <a:off x="0" y="522000"/>
            <a:ext cx="5668560" cy="251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87" name="Grafik 12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88" name="PlaceHolder 7"/>
          <p:cNvSpPr>
            <a:spLocks noGrp="1"/>
          </p:cNvSpPr>
          <p:nvPr>
            <p:ph type="body"/>
          </p:nvPr>
        </p:nvSpPr>
        <p:spPr>
          <a:xfrm>
            <a:off x="0" y="3378600"/>
            <a:ext cx="5668560" cy="251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90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5856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dt" idx="49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ftr" idx="50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sldNum" idx="51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C2ED1A-289B-4612-A93C-443CDD8CD98E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820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96" name="Grafik 14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297" name="PlaceHolder 6"/>
          <p:cNvSpPr>
            <a:spLocks noGrp="1"/>
          </p:cNvSpPr>
          <p:nvPr>
            <p:ph type="body"/>
          </p:nvPr>
        </p:nvSpPr>
        <p:spPr>
          <a:xfrm>
            <a:off x="2465280" y="2394000"/>
            <a:ext cx="9215640" cy="12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52000" indent="-2520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SzPct val="100058"/>
              <a:buBlip>
                <a:blip r:embed="rId4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504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5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8" name="PlaceHolder 7"/>
          <p:cNvSpPr>
            <a:spLocks noGrp="1"/>
          </p:cNvSpPr>
          <p:nvPr>
            <p:ph type="body"/>
          </p:nvPr>
        </p:nvSpPr>
        <p:spPr>
          <a:xfrm>
            <a:off x="2465280" y="4118760"/>
            <a:ext cx="9215640" cy="129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52000" indent="-2520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SzPct val="100058"/>
              <a:buBlip>
                <a:blip r:embed="rId6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Lorem ipsum dolor sit amet, consetetur sadipscing elitr </a:t>
            </a:r>
            <a:br>
              <a:rPr sz="1400"/>
            </a:b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sed diam nonumy eirmod tempor invidunt ut labore.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504000" indent="-252000" defTabSz="914400">
              <a:lnSpc>
                <a:spcPct val="120000"/>
              </a:lnSpc>
              <a:spcBef>
                <a:spcPts val="499"/>
              </a:spcBef>
              <a:spcAft>
                <a:spcPts val="2001"/>
              </a:spcAft>
              <a:buSzPct val="100058"/>
              <a:buBlip>
                <a:blip r:embed="rId7"/>
              </a:buBlip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Zweite Ebene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9" name="PlaceHolder 8"/>
          <p:cNvSpPr>
            <a:spLocks noGrp="1"/>
          </p:cNvSpPr>
          <p:nvPr>
            <p:ph type="body"/>
          </p:nvPr>
        </p:nvSpPr>
        <p:spPr>
          <a:xfrm>
            <a:off x="450720" y="2394000"/>
            <a:ext cx="1527840" cy="12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0" name="PlaceHolder 9"/>
          <p:cNvSpPr>
            <a:spLocks noGrp="1"/>
          </p:cNvSpPr>
          <p:nvPr>
            <p:ph type="body"/>
          </p:nvPr>
        </p:nvSpPr>
        <p:spPr>
          <a:xfrm>
            <a:off x="450720" y="4118400"/>
            <a:ext cx="1527840" cy="129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302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522000" y="2604960"/>
            <a:ext cx="3134160" cy="3237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Uciatati ncimodit lam dolorep udae-cab oratio et ratem quament ota vernatet ulluptatem nima eiciisquo tendi ut ut alis comnias restium am et at fugit fugitia.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Ugitatum repudae dolor poritatur? Ea lorit reresciet harcien empore ea verem laut dus venet.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dt" idx="52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ftr" idx="53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 type="sldNum" idx="54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C54FD5-B109-4D4A-8AA8-E9DE07477F7B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 type="body"/>
          </p:nvPr>
        </p:nvSpPr>
        <p:spPr>
          <a:xfrm>
            <a:off x="8064000" y="2610000"/>
            <a:ext cx="3134160" cy="3232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Uciatati ncimodit lam dolorep udae-cab oratio et ratem quament ota vernatet ulluptatem nima eiciisquo tendi ut ut alis comnias restium am et at fugit fugitia.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228600" indent="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0" lang="de-DE" sz="1400" spc="-1" strike="noStrike">
                <a:solidFill>
                  <a:schemeClr val="dk1"/>
                </a:solidFill>
                <a:latin typeface="TWK Everett"/>
              </a:rPr>
              <a:t>Ugitatum repudae dolor poritatur? Ea lorit reresciet harcien empore ea verem laut dus venet.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0" name="PlaceHolder 8"/>
          <p:cNvSpPr>
            <a:spLocks noGrp="1"/>
          </p:cNvSpPr>
          <p:nvPr>
            <p:ph type="body"/>
          </p:nvPr>
        </p:nvSpPr>
        <p:spPr>
          <a:xfrm>
            <a:off x="522360" y="2226600"/>
            <a:ext cx="3133800" cy="2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rgbClr val="ff0350"/>
                </a:solidFill>
                <a:latin typeface="TWK Everett"/>
              </a:rPr>
              <a:t>Zwischentitel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1" name="PlaceHolder 9"/>
          <p:cNvSpPr>
            <a:spLocks noGrp="1"/>
          </p:cNvSpPr>
          <p:nvPr>
            <p:ph type="body"/>
          </p:nvPr>
        </p:nvSpPr>
        <p:spPr>
          <a:xfrm>
            <a:off x="8064000" y="2226600"/>
            <a:ext cx="3133800" cy="2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2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rgbClr val="ff0350"/>
                </a:solidFill>
                <a:latin typeface="TWK Everett"/>
              </a:rPr>
              <a:t>Zwischentitel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12" name="Grafik 17" descr=""/>
          <p:cNvPicPr/>
          <p:nvPr/>
        </p:nvPicPr>
        <p:blipFill>
          <a:blip r:embed="rId3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313" name="PlaceHolder 10"/>
          <p:cNvSpPr>
            <a:spLocks noGrp="1"/>
          </p:cNvSpPr>
          <p:nvPr>
            <p:ph type="body"/>
          </p:nvPr>
        </p:nvSpPr>
        <p:spPr>
          <a:xfrm>
            <a:off x="4292640" y="2226600"/>
            <a:ext cx="3134520" cy="361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 defTabSz="9144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 defTabSz="9144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 defTabSz="9144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 defTabSz="9144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TWK Everett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8" r:id="rId4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rafik 3" descr=""/>
          <p:cNvPicPr/>
          <p:nvPr/>
        </p:nvPicPr>
        <p:blipFill>
          <a:blip r:embed="rId2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  <p:sp>
        <p:nvSpPr>
          <p:cNvPr id="315" name="Textfeld 5"/>
          <p:cNvSpPr/>
          <p:nvPr/>
        </p:nvSpPr>
        <p:spPr>
          <a:xfrm>
            <a:off x="11283480" y="6406560"/>
            <a:ext cx="35640" cy="12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850" spc="-1" strike="noStrike">
                <a:solidFill>
                  <a:schemeClr val="dk2"/>
                </a:solidFill>
                <a:latin typeface="TWK Everett"/>
              </a:rPr>
              <a:t>|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 cap="all">
                <a:solidFill>
                  <a:srgbClr val="ff0350"/>
                </a:solidFill>
                <a:latin typeface="TWK Everett"/>
              </a:rPr>
              <a:t>HIER STEHT DIE HEADLINE DER PRÄSENTATION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1466280" y="4131720"/>
            <a:ext cx="2878560" cy="17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algn="ctr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EIN WICHTIGER ERSTER PUNKT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dt" idx="55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&lt;date/time&gt;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 type="ftr" idx="56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850" spc="-1" strike="noStrike">
                <a:solidFill>
                  <a:srgbClr val="ff0350"/>
                </a:solidFill>
                <a:latin typeface="TWK Everett"/>
              </a:rPr>
              <a:t>&lt;footer&gt;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 type="sldNum" idx="57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FF3785-F65D-4245-BC8A-1A31AC650B24}" type="slidenum">
              <a:rPr b="0" lang="de-DE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PlaceHolder 6"/>
          <p:cNvSpPr>
            <a:spLocks noGrp="1"/>
          </p:cNvSpPr>
          <p:nvPr>
            <p:ph type="body"/>
          </p:nvPr>
        </p:nvSpPr>
        <p:spPr>
          <a:xfrm>
            <a:off x="4668840" y="4131720"/>
            <a:ext cx="2878560" cy="17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EIN WICHTIGER ZWEITER PUNKT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2" name="PlaceHolder 7"/>
          <p:cNvSpPr>
            <a:spLocks noGrp="1"/>
          </p:cNvSpPr>
          <p:nvPr>
            <p:ph type="body"/>
          </p:nvPr>
        </p:nvSpPr>
        <p:spPr>
          <a:xfrm>
            <a:off x="7856280" y="4131720"/>
            <a:ext cx="2878560" cy="177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algn="ctr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EIN WICHTIGER DRITTER PUNKT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3" name="PlaceHolder 8"/>
          <p:cNvSpPr>
            <a:spLocks noGrp="1"/>
          </p:cNvSpPr>
          <p:nvPr>
            <p:ph type="body"/>
          </p:nvPr>
        </p:nvSpPr>
        <p:spPr>
          <a:xfrm>
            <a:off x="522360" y="1014480"/>
            <a:ext cx="11150640" cy="57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Hier ist Platz für eine längere Subline,</a:t>
            </a:r>
            <a:br>
              <a:rPr sz="1900"/>
            </a:br>
            <a:r>
              <a:rPr b="1" lang="de-DE" sz="1900" spc="-1" strike="noStrike">
                <a:solidFill>
                  <a:schemeClr val="dk1"/>
                </a:solidFill>
                <a:latin typeface="TWK Everett"/>
              </a:rPr>
              <a:t>die über mehrere Zeilen laufen kann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24" name="Grafik 20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466280" y="2352600"/>
            <a:ext cx="2878560" cy="1421640"/>
          </a:xfrm>
          <a:prstGeom prst="rect">
            <a:avLst/>
          </a:prstGeom>
          <a:ln w="0">
            <a:noFill/>
          </a:ln>
        </p:spPr>
      </p:pic>
      <p:pic>
        <p:nvPicPr>
          <p:cNvPr id="325" name="Grafik 22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668840" y="2352600"/>
            <a:ext cx="2878560" cy="1421640"/>
          </a:xfrm>
          <a:prstGeom prst="rect">
            <a:avLst/>
          </a:prstGeom>
          <a:ln w="0">
            <a:noFill/>
          </a:ln>
        </p:spPr>
      </p:pic>
      <p:pic>
        <p:nvPicPr>
          <p:cNvPr id="326" name="Grafik 2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845480" y="2352600"/>
            <a:ext cx="2878560" cy="1421640"/>
          </a:xfrm>
          <a:prstGeom prst="rect">
            <a:avLst/>
          </a:prstGeom>
          <a:ln w="0">
            <a:noFill/>
          </a:ln>
        </p:spPr>
      </p:pic>
      <p:pic>
        <p:nvPicPr>
          <p:cNvPr id="327" name="Grafik 25" descr=""/>
          <p:cNvPicPr/>
          <p:nvPr/>
        </p:nvPicPr>
        <p:blipFill>
          <a:blip r:embed="rId9"/>
          <a:stretch/>
        </p:blipFill>
        <p:spPr>
          <a:xfrm>
            <a:off x="450720" y="6094800"/>
            <a:ext cx="1136880" cy="4834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image" Target="../media/image23.png"/><Relationship Id="rId4" Type="http://schemas.openxmlformats.org/officeDocument/2006/relationships/image" Target="../media/image23.png"/><Relationship Id="rId5" Type="http://schemas.openxmlformats.org/officeDocument/2006/relationships/image" Target="../media/image23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6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8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22000" y="1872000"/>
            <a:ext cx="9510840" cy="221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200" spc="-1" strike="noStrike" cap="all">
                <a:solidFill>
                  <a:schemeClr val="dk1"/>
                </a:solidFill>
                <a:latin typeface="TWK Everett"/>
              </a:rPr>
              <a:t>Design of a Spread-Spectrum Data Transmission system</a:t>
            </a:r>
            <a:endParaRPr b="0" lang="en-US" sz="4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subTitle"/>
          </p:nvPr>
        </p:nvSpPr>
        <p:spPr>
          <a:xfrm>
            <a:off x="522000" y="4262040"/>
            <a:ext cx="9142560" cy="16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0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chemeClr val="dk1"/>
                </a:solidFill>
                <a:latin typeface="TWK Everett"/>
              </a:rPr>
              <a:t>Master Project 1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228600" indent="0" defTabSz="914400">
              <a:lnSpc>
                <a:spcPct val="100000"/>
              </a:lnSpc>
              <a:spcBef>
                <a:spcPts val="1001"/>
              </a:spcBef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/>
          </p:nvPr>
        </p:nvSpPr>
        <p:spPr>
          <a:xfrm>
            <a:off x="522000" y="4800600"/>
            <a:ext cx="496584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20000"/>
              </a:lnSpc>
              <a:spcAft>
                <a:spcPts val="2001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TWK Everett"/>
              </a:rPr>
              <a:t>Daniel Pedder</a:t>
            </a:r>
            <a:br>
              <a:rPr sz="1600"/>
            </a:br>
            <a:r>
              <a:rPr b="1" lang="en-US" sz="1600" spc="-1" strike="noStrike">
                <a:solidFill>
                  <a:schemeClr val="dk1"/>
                </a:solidFill>
                <a:latin typeface="TWK Everett"/>
              </a:rPr>
              <a:t>Mahalakshmi Krishnan</a:t>
            </a:r>
            <a:br>
              <a:rPr sz="1600"/>
            </a:br>
            <a:r>
              <a:rPr b="1" lang="en-US" sz="1600" spc="-1" strike="noStrike">
                <a:solidFill>
                  <a:schemeClr val="dk1"/>
                </a:solidFill>
                <a:latin typeface="TWK Everett"/>
              </a:rPr>
              <a:t>Thomas Homm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 cap="all">
                <a:solidFill>
                  <a:schemeClr val="dk1"/>
                </a:solidFill>
                <a:latin typeface="TWK Everett"/>
              </a:rPr>
              <a:t>Content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522000" y="1458720"/>
            <a:ext cx="11150280" cy="441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52000" indent="-252000" defTabSz="914400">
              <a:lnSpc>
                <a:spcPct val="120000"/>
              </a:lnSpc>
              <a:spcAft>
                <a:spcPts val="2001"/>
              </a:spcAft>
              <a:buSzPct val="100000"/>
              <a:buBlip>
                <a:blip r:embed="rId1"/>
              </a:buBlip>
            </a:pPr>
            <a:r>
              <a:rPr b="1" lang="en-US" sz="2000" spc="-1" strike="noStrike">
                <a:solidFill>
                  <a:schemeClr val="dk1"/>
                </a:solidFill>
                <a:latin typeface="TWK Everett"/>
              </a:rPr>
              <a:t>Motivation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252000" indent="-252000" defTabSz="914400">
              <a:lnSpc>
                <a:spcPct val="120000"/>
              </a:lnSpc>
              <a:spcAft>
                <a:spcPts val="2001"/>
              </a:spcAft>
              <a:buSzPct val="100000"/>
              <a:buBlip>
                <a:blip r:embed="rId2"/>
              </a:buBlip>
            </a:pPr>
            <a:r>
              <a:rPr b="1" lang="en-US" sz="2000" spc="-1" strike="noStrike">
                <a:solidFill>
                  <a:schemeClr val="dk1"/>
                </a:solidFill>
                <a:latin typeface="TWK Everett"/>
              </a:rPr>
              <a:t>Fundamentals of Spread-Spectrum Communications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252000" indent="-252000" defTabSz="914400">
              <a:lnSpc>
                <a:spcPct val="120000"/>
              </a:lnSpc>
              <a:spcAft>
                <a:spcPts val="2001"/>
              </a:spcAft>
              <a:buSzPct val="100000"/>
              <a:buBlip>
                <a:blip r:embed="rId3"/>
              </a:buBlip>
            </a:pPr>
            <a:r>
              <a:rPr b="1" lang="en-US" sz="2000" spc="-1" strike="noStrike">
                <a:solidFill>
                  <a:schemeClr val="dk1"/>
                </a:solidFill>
                <a:latin typeface="TWK Everett"/>
              </a:rPr>
              <a:t>Design of the System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252000" indent="-252000" defTabSz="914400">
              <a:lnSpc>
                <a:spcPct val="120000"/>
              </a:lnSpc>
              <a:spcAft>
                <a:spcPts val="2001"/>
              </a:spcAft>
              <a:buSzPct val="100000"/>
              <a:buBlip>
                <a:blip r:embed="rId4"/>
              </a:buBlip>
            </a:pPr>
            <a:r>
              <a:rPr b="1" lang="en-US" sz="2000" spc="-1" strike="noStrike">
                <a:solidFill>
                  <a:schemeClr val="dk1"/>
                </a:solidFill>
                <a:latin typeface="TWK Everett"/>
              </a:rPr>
              <a:t>Implementation in SpinalHDL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252000" indent="-252000" defTabSz="914400">
              <a:lnSpc>
                <a:spcPct val="120000"/>
              </a:lnSpc>
              <a:spcAft>
                <a:spcPts val="2001"/>
              </a:spcAft>
              <a:buSzPct val="100000"/>
              <a:buBlip>
                <a:blip r:embed="rId5"/>
              </a:buBlip>
            </a:pPr>
            <a:r>
              <a:rPr b="1" lang="en-US" sz="2000" spc="-1" strike="noStrike">
                <a:solidFill>
                  <a:schemeClr val="dk1"/>
                </a:solidFill>
                <a:latin typeface="TWK Everett"/>
              </a:rPr>
              <a:t>Hardware Demonstration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252000" indent="-252000" defTabSz="914400">
              <a:lnSpc>
                <a:spcPct val="120000"/>
              </a:lnSpc>
              <a:spcAft>
                <a:spcPts val="2001"/>
              </a:spcAft>
              <a:buSzPct val="100000"/>
              <a:buBlip>
                <a:blip r:embed="rId6"/>
              </a:buBlip>
            </a:pPr>
            <a:r>
              <a:rPr b="1" lang="en-US" sz="2000" spc="-1" strike="noStrike">
                <a:solidFill>
                  <a:schemeClr val="dk1"/>
                </a:solidFill>
                <a:latin typeface="TWK Everett"/>
              </a:rPr>
              <a:t>Outlook and Conclusion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Aft>
                <a:spcPts val="2001"/>
              </a:spcAft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dt" idx="61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38BFDF-C2F5-4792-9BE3-754F9530F9BF}" type="datetime1">
              <a:rPr b="0" lang="en-US" sz="850" spc="-1" strike="noStrike">
                <a:solidFill>
                  <a:srgbClr val="ff0350"/>
                </a:solidFill>
                <a:latin typeface="TWK Everett"/>
              </a:rPr>
              <a:t>07/14/2026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ftr" idx="62"/>
          </p:nvPr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1" lang="en-GB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GB" sz="850" spc="-1" strike="noStrike">
                <a:solidFill>
                  <a:srgbClr val="ff0350"/>
                </a:solidFill>
                <a:latin typeface="TWK Everett"/>
              </a:rPr>
              <a:t>Design of a Spread-Spectrum Data Transmission system - Daniel Pedder - Mahalakshmi Krishnan - Thomas Homm</a:t>
            </a:r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PlaceHolder 5"/>
          <p:cNvSpPr>
            <a:spLocks noGrp="1"/>
          </p:cNvSpPr>
          <p:nvPr>
            <p:ph type="sldNum" idx="63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B6A41C-D0F7-4C88-ADBD-D7901BD56DFE}" type="slidenum">
              <a:rPr b="0" lang="en-US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 cap="all">
                <a:solidFill>
                  <a:schemeClr val="dk1"/>
                </a:solidFill>
                <a:latin typeface="TWK Everett"/>
              </a:rPr>
              <a:t>Motivation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dt" idx="64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45F072-3B5C-451F-B2FD-40A8AF444AFA}" type="datetime1">
              <a:rPr b="0" lang="en-US" sz="850" spc="-1" strike="noStrike">
                <a:solidFill>
                  <a:srgbClr val="ff0350"/>
                </a:solidFill>
                <a:latin typeface="TWK Everett"/>
              </a:rPr>
              <a:t>07/14/2026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65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25958C-8EF0-466A-8C28-80F4C7E592D8}" type="slidenum">
              <a:rPr b="0" lang="en-US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PlaceHolder 4"/>
          <p:cNvSpPr/>
          <p:nvPr/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850" spc="-1" strike="noStrike">
                <a:solidFill>
                  <a:srgbClr val="ff0350"/>
                </a:solidFill>
                <a:latin typeface="TWK Everett"/>
              </a:rPr>
              <a:t>Design of a Spread-Spectrum Data Transmission system - Daniel Pedder - Mahalakshmi Krishnan - Thomas Homm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 cap="all">
                <a:solidFill>
                  <a:schemeClr val="dk1"/>
                </a:solidFill>
                <a:latin typeface="TWK Everett"/>
              </a:rPr>
              <a:t>Justification of Spread Spectrum Communication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dt" idx="66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0EB4D57F-7E80-4B32-9176-04264B237968}" type="datetime1">
              <a:rPr b="0" lang="en-US" sz="850" spc="-1" strike="noStrike">
                <a:solidFill>
                  <a:srgbClr val="ff0350"/>
                </a:solidFill>
                <a:latin typeface="TWK Everett"/>
              </a:rPr>
              <a:t>07/14/2026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67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D28E4F7B-97A2-4247-9B40-868595B168CB}" type="slidenum">
              <a:rPr b="0" lang="en-US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Rechteck 376"/>
          <p:cNvSpPr/>
          <p:nvPr/>
        </p:nvSpPr>
        <p:spPr>
          <a:xfrm>
            <a:off x="1080000" y="2160000"/>
            <a:ext cx="1796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0" name="Grafik 377" descr=""/>
          <p:cNvPicPr/>
          <p:nvPr/>
        </p:nvPicPr>
        <p:blipFill>
          <a:blip r:embed="rId1"/>
          <a:srcRect l="14846" t="20572" r="14610" b="25588"/>
          <a:stretch/>
        </p:blipFill>
        <p:spPr>
          <a:xfrm>
            <a:off x="6300000" y="1186560"/>
            <a:ext cx="4895280" cy="3492360"/>
          </a:xfrm>
          <a:prstGeom prst="rect">
            <a:avLst/>
          </a:prstGeom>
          <a:ln w="0">
            <a:noFill/>
          </a:ln>
        </p:spPr>
      </p:pic>
      <p:sp>
        <p:nvSpPr>
          <p:cNvPr id="351" name="Rechteck 378"/>
          <p:cNvSpPr/>
          <p:nvPr/>
        </p:nvSpPr>
        <p:spPr>
          <a:xfrm>
            <a:off x="3420000" y="5220000"/>
            <a:ext cx="46789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C. E. Shannon, "Communication in the Presence of Noise," in Proceedings of the IRE, vol. 37, no. 1, pp. 10-21, Jan. 1949, doi: 10.1109/JRPROC.1949.232969.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Grafik 379" descr=""/>
          <p:cNvPicPr/>
          <p:nvPr/>
        </p:nvPicPr>
        <p:blipFill>
          <a:blip r:embed="rId2"/>
          <a:stretch/>
        </p:blipFill>
        <p:spPr>
          <a:xfrm>
            <a:off x="1734840" y="2517120"/>
            <a:ext cx="3664080" cy="1081800"/>
          </a:xfrm>
          <a:prstGeom prst="rect">
            <a:avLst/>
          </a:prstGeom>
          <a:ln w="0">
            <a:noFill/>
          </a:ln>
        </p:spPr>
      </p:pic>
      <p:sp>
        <p:nvSpPr>
          <p:cNvPr id="353" name="PlaceHolder 4"/>
          <p:cNvSpPr/>
          <p:nvPr/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850" spc="-1" strike="noStrike">
                <a:solidFill>
                  <a:srgbClr val="ff0350"/>
                </a:solidFill>
                <a:latin typeface="TWK Everett"/>
              </a:rPr>
              <a:t>Design of a Spread-Spectrum Data Transmission system - Daniel Pedder - Mahalakshmi Krishnan - Thomas Homm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 cap="all">
                <a:solidFill>
                  <a:schemeClr val="dk1"/>
                </a:solidFill>
                <a:latin typeface="TWK Everett"/>
              </a:rPr>
              <a:t>Generating a spread spectrum signal: DSSS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dt" idx="68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F99A24F5-DD73-4F1D-B130-2A9962986C67}" type="datetime1">
              <a:rPr b="0" lang="en-US" sz="850" spc="-1" strike="noStrike">
                <a:solidFill>
                  <a:srgbClr val="ff0350"/>
                </a:solidFill>
                <a:latin typeface="TWK Everett"/>
              </a:rPr>
              <a:t>07/14/2026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69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4316CA70-FC50-4639-904E-36820C3D10E8}" type="slidenum">
              <a:rPr b="0" lang="en-US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/>
          </p:nvPr>
        </p:nvSpPr>
        <p:spPr>
          <a:xfrm>
            <a:off x="522000" y="900000"/>
            <a:ext cx="11150640" cy="4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chemeClr val="dk1"/>
                </a:solidFill>
                <a:latin typeface="TWK Everett"/>
              </a:rPr>
              <a:t>Direct Sequence Spread Spectrum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8" name="Rechteck 385"/>
          <p:cNvSpPr/>
          <p:nvPr/>
        </p:nvSpPr>
        <p:spPr>
          <a:xfrm>
            <a:off x="1080000" y="2160000"/>
            <a:ext cx="1796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9" name="Grafik 386" descr=""/>
          <p:cNvPicPr/>
          <p:nvPr/>
        </p:nvPicPr>
        <p:blipFill>
          <a:blip r:embed="rId1"/>
          <a:stretch/>
        </p:blipFill>
        <p:spPr>
          <a:xfrm>
            <a:off x="1800000" y="1260000"/>
            <a:ext cx="7918920" cy="4806720"/>
          </a:xfrm>
          <a:prstGeom prst="rect">
            <a:avLst/>
          </a:prstGeom>
          <a:ln w="0">
            <a:noFill/>
          </a:ln>
        </p:spPr>
      </p:pic>
      <p:sp>
        <p:nvSpPr>
          <p:cNvPr id="360" name="Rechteck 387"/>
          <p:cNvSpPr/>
          <p:nvPr/>
        </p:nvSpPr>
        <p:spPr>
          <a:xfrm>
            <a:off x="2520000" y="6067800"/>
            <a:ext cx="59965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https://en.lntwww.de/Examples_of_Communication_Systems/Telecommunications_Aspects_of_UMTS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4"/>
          <p:cNvSpPr/>
          <p:nvPr/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850" spc="-1" strike="noStrike">
                <a:solidFill>
                  <a:srgbClr val="ff0350"/>
                </a:solidFill>
                <a:latin typeface="TWK Everett"/>
              </a:rPr>
              <a:t>Design of a Spread-Spectrum Data Transmission system - Daniel Pedder - Mahalakshmi Krishnan - Thomas Homm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 cap="all">
                <a:solidFill>
                  <a:schemeClr val="dk1"/>
                </a:solidFill>
                <a:latin typeface="TWK Everett"/>
              </a:rPr>
              <a:t>Antijamming communication - DSSS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dt" idx="70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D89B0401-B630-4729-94CF-33394E53468B}" type="datetime1">
              <a:rPr b="0" lang="en-US" sz="850" spc="-1" strike="noStrike">
                <a:solidFill>
                  <a:srgbClr val="ff0350"/>
                </a:solidFill>
                <a:latin typeface="TWK Everett"/>
              </a:rPr>
              <a:t>07/14/2026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71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7518AC4F-3EFD-4BF6-9A52-6AEACCD7D088}" type="slidenum">
              <a:rPr b="0" lang="en-US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/>
          </p:nvPr>
        </p:nvSpPr>
        <p:spPr>
          <a:xfrm>
            <a:off x="522000" y="900000"/>
            <a:ext cx="11150640" cy="42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chemeClr val="dk1"/>
                </a:solidFill>
                <a:latin typeface="TWK Everett"/>
              </a:rPr>
              <a:t>Direct Sequence Spread Spectrum</a:t>
            </a:r>
            <a:endParaRPr b="0" lang="en-US" sz="1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6" name="Rechteck 393"/>
          <p:cNvSpPr/>
          <p:nvPr/>
        </p:nvSpPr>
        <p:spPr>
          <a:xfrm>
            <a:off x="1080000" y="2160000"/>
            <a:ext cx="1796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Grafik 394" descr=""/>
          <p:cNvPicPr/>
          <p:nvPr/>
        </p:nvPicPr>
        <p:blipFill>
          <a:blip r:embed="rId1"/>
          <a:stretch/>
        </p:blipFill>
        <p:spPr>
          <a:xfrm>
            <a:off x="6840000" y="383400"/>
            <a:ext cx="4678920" cy="5648400"/>
          </a:xfrm>
          <a:prstGeom prst="rect">
            <a:avLst/>
          </a:prstGeom>
          <a:ln w="0">
            <a:noFill/>
          </a:ln>
        </p:spPr>
      </p:pic>
      <p:pic>
        <p:nvPicPr>
          <p:cNvPr id="368" name="Grafik 395" descr=""/>
          <p:cNvPicPr/>
          <p:nvPr/>
        </p:nvPicPr>
        <p:blipFill>
          <a:blip r:embed="rId2"/>
          <a:stretch/>
        </p:blipFill>
        <p:spPr>
          <a:xfrm>
            <a:off x="565200" y="1809360"/>
            <a:ext cx="5913720" cy="3589560"/>
          </a:xfrm>
          <a:prstGeom prst="rect">
            <a:avLst/>
          </a:prstGeom>
          <a:ln w="0">
            <a:noFill/>
          </a:ln>
        </p:spPr>
      </p:pic>
      <p:sp>
        <p:nvSpPr>
          <p:cNvPr id="369" name="Rechteck 396"/>
          <p:cNvSpPr/>
          <p:nvPr/>
        </p:nvSpPr>
        <p:spPr>
          <a:xfrm>
            <a:off x="540000" y="5400000"/>
            <a:ext cx="59965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https://en.lntwww.de/Examples_of_Communication_Systems/Telecommunications_Aspects_of_UMTS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feld 397"/>
          <p:cNvSpPr/>
          <p:nvPr/>
        </p:nvSpPr>
        <p:spPr>
          <a:xfrm>
            <a:off x="4429800" y="5940000"/>
            <a:ext cx="366984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https://commons.wikimedia.org/wiki/File:Processinggain.jpg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4"/>
          <p:cNvSpPr/>
          <p:nvPr/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850" spc="-1" strike="noStrike">
                <a:solidFill>
                  <a:srgbClr val="ff0350"/>
                </a:solidFill>
                <a:latin typeface="TWK Everett"/>
              </a:rPr>
              <a:t>Design of a Spread-Spectrum Data Transmission system - Daniel Pedder - Mahalakshmi Krishnan - Thomas Homm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 cap="all">
                <a:solidFill>
                  <a:schemeClr val="dk1"/>
                </a:solidFill>
                <a:latin typeface="TWK Everett"/>
              </a:rPr>
              <a:t>System Design - Receiver: Acquisition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dt" idx="72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24BE4506-2A6B-4201-BB44-D73465FD616D}" type="datetime1">
              <a:rPr b="0" lang="en-US" sz="850" spc="-1" strike="noStrike">
                <a:solidFill>
                  <a:srgbClr val="ff0350"/>
                </a:solidFill>
                <a:latin typeface="TWK Everett"/>
              </a:rPr>
              <a:t>07/14/2026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73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6EAD0687-D3F1-410E-9DB6-6A346EDA0C4D}" type="slidenum">
              <a:rPr b="0" lang="en-US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Rechteck 1"/>
          <p:cNvSpPr/>
          <p:nvPr/>
        </p:nvSpPr>
        <p:spPr>
          <a:xfrm>
            <a:off x="1080000" y="2160000"/>
            <a:ext cx="1796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9"/>
          <p:cNvSpPr/>
          <p:nvPr/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850" spc="-1" strike="noStrike">
                <a:solidFill>
                  <a:srgbClr val="ff0350"/>
                </a:solidFill>
                <a:latin typeface="TWK Everett"/>
              </a:rPr>
              <a:t>Design of a Spread-Spectrum Data Transmission system - Daniel Pedder - Mahalakshmi Krishnan - Thomas Homm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7" name="" descr=""/>
          <p:cNvPicPr/>
          <p:nvPr/>
        </p:nvPicPr>
        <p:blipFill>
          <a:blip r:embed="rId1"/>
          <a:stretch/>
        </p:blipFill>
        <p:spPr>
          <a:xfrm>
            <a:off x="3418780" y="1000000"/>
            <a:ext cx="5354440" cy="2600000"/>
          </a:xfrm>
          <a:prstGeom prst="rect">
            <a:avLst/>
          </a:prstGeom>
          <a:ln w="0">
            <a:noFill/>
          </a:ln>
        </p:spPr>
      </p:pic>
      <p:sp>
        <p:nvSpPr>
          <p:cNvPr id="900" name="Bullets"/>
          <p:cNvSpPr>
            <a:spLocks noGrp="1"/>
          </p:cNvSpPr>
          <p:nvPr/>
        </p:nvSpPr>
        <p:spPr>
          <a:xfrm>
            <a:off x="522000" y="3750000"/>
            <a:ext cx="11148000" cy="280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Receiver does not know the transmitter’s code phase at power-on — it must search for it before any data can be recovered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32 parallel correlators run simultaneously, each testing a different code-phase offset of the local LFSR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Each correlator multiplies its delayed code replica with the sampled signal and integrates over one code period (“Integrate &amp; Dump”)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The correlator with the highest correlation peak wins; its LFSR state is loaded into the main tracking LFSR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Acquisition time: ~16 ms with a single correlator (≈750 correlations) → &lt;1 ms with 32 parallel correlators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522000" y="486000"/>
            <a:ext cx="11172600" cy="469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 cap="all">
                <a:solidFill>
                  <a:schemeClr val="dk1"/>
                </a:solidFill>
                <a:latin typeface="TWK Everett"/>
              </a:rPr>
              <a:t>System Design - Receiver: Tracking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dt" idx="74"/>
          </p:nvPr>
        </p:nvSpPr>
        <p:spPr>
          <a:xfrm>
            <a:off x="10350000" y="6406560"/>
            <a:ext cx="73836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B3511BFA-312C-4BE1-B944-CF576791EB75}" type="datetime1">
              <a:rPr b="0" lang="en-US" sz="850" spc="-1" strike="noStrike">
                <a:solidFill>
                  <a:srgbClr val="ff0350"/>
                </a:solidFill>
                <a:latin typeface="TWK Everett"/>
              </a:rPr>
              <a:t>07/14/2026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75"/>
          </p:nvPr>
        </p:nvSpPr>
        <p:spPr>
          <a:xfrm>
            <a:off x="11232000" y="6409080"/>
            <a:ext cx="440640" cy="20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850" spc="-1" strike="noStrike">
                <a:solidFill>
                  <a:srgbClr val="ff0350"/>
                </a:solidFill>
                <a:latin typeface="TWK Everett"/>
              </a:defRPr>
            </a:lvl1pPr>
          </a:lstStyle>
          <a:p>
            <a:pPr indent="0" algn="r" defTabSz="9144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1396F61C-5A82-4FE7-A2C5-324F9184E634}" type="slidenum">
              <a:rPr b="0" lang="en-US" sz="850" spc="-1" strike="noStrike">
                <a:solidFill>
                  <a:srgbClr val="ff0350"/>
                </a:solidFill>
                <a:latin typeface="TWK Everett"/>
              </a:rPr>
              <a:t>&lt;number&gt;</a:t>
            </a:fld>
            <a:endParaRPr b="0" lang="en-US" sz="8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Rechteck 2"/>
          <p:cNvSpPr/>
          <p:nvPr/>
        </p:nvSpPr>
        <p:spPr>
          <a:xfrm>
            <a:off x="1080000" y="2160000"/>
            <a:ext cx="1796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16"/>
          <p:cNvSpPr/>
          <p:nvPr/>
        </p:nvSpPr>
        <p:spPr>
          <a:xfrm>
            <a:off x="2096280" y="6406560"/>
            <a:ext cx="789264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850" spc="-1" strike="noStrike">
                <a:solidFill>
                  <a:srgbClr val="ff0350"/>
                </a:solidFill>
                <a:latin typeface="TWK Everett"/>
              </a:rPr>
              <a:t>Design of a Spread-Spectrum Data Transmission system - Daniel Pedder - Mahalakshmi Krishnan - Thomas Homm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3" name="" descr=""/>
          <p:cNvPicPr/>
          <p:nvPr/>
        </p:nvPicPr>
        <p:blipFill>
          <a:blip r:embed="rId1"/>
          <a:stretch/>
        </p:blipFill>
        <p:spPr>
          <a:xfrm>
            <a:off x="4376100" y="1000000"/>
            <a:ext cx="3439800" cy="2600000"/>
          </a:xfrm>
          <a:prstGeom prst="rect">
            <a:avLst/>
          </a:prstGeom>
          <a:ln w="0">
            <a:noFill/>
          </a:ln>
        </p:spPr>
      </p:pic>
      <p:sp>
        <p:nvSpPr>
          <p:cNvPr id="901" name="Bullets"/>
          <p:cNvSpPr>
            <a:spLocks noGrp="1"/>
          </p:cNvSpPr>
          <p:nvPr/>
        </p:nvSpPr>
        <p:spPr>
          <a:xfrm>
            <a:off x="522000" y="3750000"/>
            <a:ext cx="11148000" cy="280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Once synchronized, the receiver must continuously correct for clock drift between transmitter and receiver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Three parallel correlators run on the incoming signal: Early, Prompt, and Late (delayed by 0, 1, and 2 cycles)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A Delay-Locked Loop (DLL) compares the Early and Late accumulator magnitudes against the Prompt value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If the error register exceeds a threshold, the DLL issues an advance or delay command, shifting the tracking LFSR by one chip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Decoded data bit is read from the sign of the Prompt accumulator</a:t>
            </a:r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</a:rPr>
              <a:t>Uncorrected clock offsets of 5–10 ppm are enough to cause loss of lock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253800" y="2971800"/>
            <a:ext cx="1074420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chemeClr val="dk1"/>
                </a:solidFill>
                <a:latin typeface="Arial"/>
              </a:rPr>
              <a:t>Thank you for your Attention!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THA Titel, Trenner, Abschluss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THA Inhalt">
  <a:themeElements>
    <a:clrScheme name="THA 2">
      <a:dk1>
        <a:srgbClr val="000000"/>
      </a:dk1>
      <a:lt1>
        <a:srgbClr val="ffffff"/>
      </a:lt1>
      <a:dk2>
        <a:srgbClr val="ff0049"/>
      </a:dk2>
      <a:lt2>
        <a:srgbClr val="f2f2f2"/>
      </a:lt2>
      <a:accent1>
        <a:srgbClr val="ff0250"/>
      </a:accent1>
      <a:accent2>
        <a:srgbClr val="ffc700"/>
      </a:accent2>
      <a:accent3>
        <a:srgbClr val="585858"/>
      </a:accent3>
      <a:accent4>
        <a:srgbClr val="808080"/>
      </a:accent4>
      <a:accent5>
        <a:srgbClr val="00c341"/>
      </a:accent5>
      <a:accent6>
        <a:srgbClr val="cccccc"/>
      </a:accent6>
      <a:hlink>
        <a:srgbClr val="ff0350"/>
      </a:hlink>
      <a:folHlink>
        <a:srgbClr val="59595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2026-07-13T15:56:33Z</dcterms:created>
  <dc:creator/>
  <dc:description/>
  <dc:language>de-DE</dc:language>
  <cp:lastModifiedBy/>
  <dcterms:modified xsi:type="dcterms:W3CDTF">2026-07-13T16:12:56Z</dcterms:modified>
  <cp:revision>4</cp:revision>
  <dc:subject/>
  <dc:title>THA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r8>1</vt:r8>
  </property>
  <property fmtid="{D5CDD505-2E9C-101B-9397-08002B2CF9AE}" pid="3" name="Notes">
    <vt:r8>19</vt:r8>
  </property>
  <property fmtid="{D5CDD505-2E9C-101B-9397-08002B2CF9AE}" pid="4" name="PresentationFormat">
    <vt:lpwstr>Breitbild</vt:lpwstr>
  </property>
  <property fmtid="{D5CDD505-2E9C-101B-9397-08002B2CF9AE}" pid="5" name="Slides">
    <vt:r8>22</vt:r8>
  </property>
</Properties>
</file>